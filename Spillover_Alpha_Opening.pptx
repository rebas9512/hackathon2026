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280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defRPr sz="1400" b="1">
                <a:solidFill>
                  <a:srgbClr val="A855F7"/>
                </a:solidFill>
                <a:latin typeface="Courier New"/>
              </a:defRPr>
            </a:pPr>
            <a:r>
              <a:t>2026 FINHACK CHALLENGE  ·  CASE 4  ·  TEAM 54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9144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9119"/>
              </a:lnSpc>
              <a:defRPr sz="9600" b="1">
                <a:solidFill>
                  <a:srgbClr val="FFFFFF"/>
                </a:solidFill>
                <a:latin typeface="Georgia"/>
              </a:defRPr>
            </a:pPr>
            <a:r>
              <a:t>Spillover</a:t>
            </a:r>
          </a:p>
          <a:p>
            <a:pPr algn="l">
              <a:lnSpc>
                <a:spcPts val="9119"/>
              </a:lnSpc>
              <a:defRPr sz="9600" b="1">
                <a:solidFill>
                  <a:srgbClr val="FFFFFF"/>
                </a:solidFill>
                <a:latin typeface="Georgia"/>
              </a:defRPr>
            </a:pPr>
            <a:r>
              <a:t>Alpha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84048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900"/>
              </a:lnSpc>
              <a:defRPr sz="3000" b="0">
                <a:solidFill>
                  <a:srgbClr val="A1A1AA"/>
                </a:solidFill>
                <a:latin typeface="Inter"/>
              </a:defRPr>
            </a:pPr>
            <a:r>
              <a:t>Can cross-company sentiment contagion</a:t>
            </a:r>
          </a:p>
          <a:p>
            <a:pPr algn="l">
              <a:lnSpc>
                <a:spcPts val="3900"/>
              </a:lnSpc>
              <a:defRPr sz="3000" b="0">
                <a:solidFill>
                  <a:srgbClr val="A1A1AA"/>
                </a:solidFill>
                <a:latin typeface="Inter"/>
              </a:defRPr>
            </a:pPr>
            <a:r>
              <a:t>predict post-earnings stock returns?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5029200"/>
            <a:ext cx="548640" cy="27432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521208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700"/>
              </a:lnSpc>
              <a:defRPr sz="1800" b="0">
                <a:solidFill>
                  <a:srgbClr val="71717A"/>
                </a:solidFill>
                <a:latin typeface="Inter"/>
              </a:defRPr>
            </a:pPr>
            <a:r>
              <a:t>Multi-Source Sentiment Spillover Network × Post-Earnings Prediction</a:t>
            </a:r>
          </a:p>
          <a:p>
            <a:pPr algn="l">
              <a:lnSpc>
                <a:spcPts val="2700"/>
              </a:lnSpc>
              <a:defRPr sz="1800" b="0">
                <a:solidFill>
                  <a:srgbClr val="A1A1AA"/>
                </a:solidFill>
                <a:latin typeface="Inter"/>
              </a:defRPr>
            </a:pPr>
            <a:r>
              <a:t>Magnificent 7: AAPL · MSFT · GOOGL · AMZN · NVDA · META · TSLA</a:t>
            </a:r>
          </a:p>
          <a:p>
            <a:pPr algn="l">
              <a:lnSpc>
                <a:spcPts val="2700"/>
              </a:lnSpc>
              <a:defRPr sz="1800" b="0">
                <a:solidFill>
                  <a:srgbClr val="71717A"/>
                </a:solidFill>
                <a:latin typeface="Inter"/>
              </a:defRPr>
            </a:pPr>
            <a:r>
              <a:t>91 Earnings Events  ·  2022 Q1 – 2025 Q1  ·  5 Progressive Models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6217920"/>
            <a:ext cx="2103120" cy="411480"/>
          </a:xfrm>
          <a:prstGeom prst="rect">
            <a:avLst/>
          </a:prstGeom>
          <a:solidFill>
            <a:srgbClr val="0A0A0A"/>
          </a:solidFill>
          <a:ln w="1270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6236208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9"/>
              </a:lnSpc>
              <a:defRPr sz="1200" b="1">
                <a:solidFill>
                  <a:srgbClr val="A855F7"/>
                </a:solidFill>
                <a:latin typeface="Courier New"/>
              </a:defRPr>
            </a:pPr>
            <a:r>
              <a:t>UTD JSOM Finance Lab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68580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defRPr sz="1600" b="0">
                <a:solidFill>
                  <a:srgbClr val="A1A1AA"/>
                </a:solidFill>
                <a:latin typeface="Inter"/>
              </a:defRPr>
            </a:pPr>
            <a:r>
              <a:t>Tu Le  ·  Yixin Wei  ·  Ernesto Aguilar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0" y="0"/>
            <a:ext cx="3200400" cy="8229600"/>
          </a:xfrm>
          <a:prstGeom prst="rect">
            <a:avLst/>
          </a:prstGeom>
          <a:solidFill>
            <a:srgbClr val="120C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6400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5460"/>
              </a:lnSpc>
              <a:defRPr sz="5200" b="1">
                <a:solidFill>
                  <a:srgbClr val="FFFFFF"/>
                </a:solidFill>
                <a:latin typeface="Georgia"/>
              </a:defRPr>
            </a:pPr>
            <a:r>
              <a:t>Mag7 beats earnings</a:t>
            </a:r>
          </a:p>
          <a:p>
            <a:pPr algn="l">
              <a:lnSpc>
                <a:spcPts val="5460"/>
              </a:lnSpc>
              <a:defRPr sz="5200" b="1">
                <a:solidFill>
                  <a:srgbClr val="FFFFFF"/>
                </a:solidFill>
                <a:latin typeface="Georgia"/>
              </a:defRPr>
            </a:pPr>
            <a:r>
              <a:t>90% of the time.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6400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5460"/>
              </a:lnSpc>
              <a:defRPr sz="5200" b="1">
                <a:solidFill>
                  <a:srgbClr val="EF4444"/>
                </a:solidFill>
                <a:latin typeface="Georgia"/>
              </a:defRPr>
            </a:pPr>
            <a:r>
              <a:t>The stock drops</a:t>
            </a:r>
          </a:p>
          <a:p>
            <a:pPr algn="l">
              <a:lnSpc>
                <a:spcPts val="5460"/>
              </a:lnSpc>
              <a:defRPr sz="5200" b="1">
                <a:solidFill>
                  <a:srgbClr val="EF4444"/>
                </a:solidFill>
                <a:latin typeface="Georgia"/>
              </a:defRPr>
            </a:pPr>
            <a:r>
              <a:t>nearly half the time.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5029200"/>
            <a:ext cx="548640" cy="27432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5212080"/>
            <a:ext cx="6400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359"/>
              </a:lnSpc>
              <a:defRPr sz="2400" b="0">
                <a:solidFill>
                  <a:srgbClr val="A1A1AA"/>
                </a:solidFill>
                <a:latin typeface="Inter"/>
              </a:defRPr>
            </a:pPr>
            <a:r>
              <a:t>What if the answer is hiding in the network</a:t>
            </a:r>
          </a:p>
          <a:p>
            <a:pPr algn="l">
              <a:lnSpc>
                <a:spcPts val="3359"/>
              </a:lnSpc>
              <a:defRPr sz="2400" b="0">
                <a:solidFill>
                  <a:srgbClr val="A1A1AA"/>
                </a:solidFill>
                <a:latin typeface="Inter"/>
              </a:defRPr>
            </a:pPr>
            <a:r>
              <a:t>between companies — not inside any single one?</a:t>
            </a:r>
          </a:p>
        </p:txBody>
      </p:sp>
      <p:sp>
        <p:nvSpPr>
          <p:cNvPr id="6" name="Rectangle 5"/>
          <p:cNvSpPr/>
          <p:nvPr/>
        </p:nvSpPr>
        <p:spPr>
          <a:xfrm>
            <a:off x="8412480" y="1097280"/>
            <a:ext cx="5303520" cy="5943600"/>
          </a:xfrm>
          <a:prstGeom prst="rect">
            <a:avLst/>
          </a:prstGeom>
          <a:solidFill>
            <a:srgbClr val="111114"/>
          </a:solidFill>
          <a:ln w="12700">
            <a:solidFill>
              <a:srgbClr val="272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0" y="15544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6240"/>
              </a:lnSpc>
              <a:defRPr sz="5200" b="1">
                <a:solidFill>
                  <a:srgbClr val="22C55E"/>
                </a:solidFill>
                <a:latin typeface="Georgia"/>
              </a:defRPr>
            </a:pPr>
            <a:r>
              <a:t>90%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16002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340"/>
              </a:lnSpc>
              <a:defRPr sz="1800" b="0">
                <a:solidFill>
                  <a:srgbClr val="71717A"/>
                </a:solidFill>
                <a:latin typeface="Inter"/>
              </a:defRPr>
            </a:pPr>
            <a:r>
              <a:t>EPS beat rate</a:t>
            </a:r>
          </a:p>
          <a:p>
            <a:pPr algn="l">
              <a:lnSpc>
                <a:spcPts val="2340"/>
              </a:lnSpc>
              <a:defRPr sz="1800" b="0">
                <a:solidFill>
                  <a:srgbClr val="71717A"/>
                </a:solidFill>
                <a:latin typeface="Inter"/>
              </a:defRPr>
            </a:pPr>
            <a:r>
              <a:t>(Mag7, 2022–2025)</a:t>
            </a:r>
          </a:p>
        </p:txBody>
      </p:sp>
      <p:sp>
        <p:nvSpPr>
          <p:cNvPr id="9" name="Rectangle 8"/>
          <p:cNvSpPr/>
          <p:nvPr/>
        </p:nvSpPr>
        <p:spPr>
          <a:xfrm>
            <a:off x="8869680" y="2651760"/>
            <a:ext cx="4389120" cy="9144"/>
          </a:xfrm>
          <a:prstGeom prst="rect">
            <a:avLst/>
          </a:prstGeom>
          <a:solidFill>
            <a:srgbClr val="272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69680" y="29260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6240"/>
              </a:lnSpc>
              <a:defRPr sz="5200" b="1">
                <a:solidFill>
                  <a:srgbClr val="EF4444"/>
                </a:solidFill>
                <a:latin typeface="Georgia"/>
              </a:defRPr>
            </a:pPr>
            <a:r>
              <a:t>49%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29718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340"/>
              </a:lnSpc>
              <a:defRPr sz="1800" b="0">
                <a:solidFill>
                  <a:srgbClr val="71717A"/>
                </a:solidFill>
                <a:latin typeface="Inter"/>
              </a:defRPr>
            </a:pPr>
            <a:r>
              <a:t>Stock drops anyway</a:t>
            </a:r>
          </a:p>
          <a:p>
            <a:pPr algn="l">
              <a:lnSpc>
                <a:spcPts val="2340"/>
              </a:lnSpc>
              <a:defRPr sz="1800" b="0">
                <a:solidFill>
                  <a:srgbClr val="71717A"/>
                </a:solidFill>
                <a:latin typeface="Inter"/>
              </a:defRPr>
            </a:pPr>
            <a:r>
              <a:t>after beating EPS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869680" y="4023360"/>
            <a:ext cx="4389120" cy="9144"/>
          </a:xfrm>
          <a:prstGeom prst="rect">
            <a:avLst/>
          </a:prstGeom>
          <a:solidFill>
            <a:srgbClr val="272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869680" y="4297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6240"/>
              </a:lnSpc>
              <a:defRPr sz="5200" b="1">
                <a:solidFill>
                  <a:srgbClr val="F59E0B"/>
                </a:solidFill>
                <a:latin typeface="Georgia"/>
              </a:defRPr>
            </a:pPr>
            <a:r>
              <a:t>+205%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43434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340"/>
              </a:lnSpc>
              <a:defRPr sz="1800" b="0">
                <a:solidFill>
                  <a:srgbClr val="71717A"/>
                </a:solidFill>
                <a:latin typeface="Inter"/>
              </a:defRPr>
            </a:pPr>
            <a:r>
              <a:t>Our best strategy return</a:t>
            </a:r>
          </a:p>
          <a:p>
            <a:pPr algn="l">
              <a:lnSpc>
                <a:spcPts val="2340"/>
              </a:lnSpc>
              <a:defRPr sz="1800" b="0">
                <a:solidFill>
                  <a:srgbClr val="71717A"/>
                </a:solidFill>
                <a:latin typeface="Inter"/>
              </a:defRPr>
            </a:pPr>
            <a:r>
              <a:t>(spillover network + XGBoost)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869680" y="5394960"/>
            <a:ext cx="4389120" cy="9144"/>
          </a:xfrm>
          <a:prstGeom prst="rect">
            <a:avLst/>
          </a:prstGeom>
          <a:solidFill>
            <a:srgbClr val="272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69680" y="57607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defRPr sz="2000" b="1">
                <a:solidFill>
                  <a:srgbClr val="A855F7"/>
                </a:solidFill>
                <a:latin typeface="Inter"/>
              </a:defRPr>
            </a:pPr>
            <a:r>
              <a:t>Let us show you how →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